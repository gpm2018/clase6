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Robo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-bold.fntdata"/><Relationship Id="rId10" Type="http://schemas.openxmlformats.org/officeDocument/2006/relationships/slide" Target="slides/slide4.xml"/><Relationship Id="rId32" Type="http://schemas.openxmlformats.org/officeDocument/2006/relationships/font" Target="fonts/Roboto-regular.fntdata"/><Relationship Id="rId13" Type="http://schemas.openxmlformats.org/officeDocument/2006/relationships/slide" Target="slides/slide7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6.xml"/><Relationship Id="rId34" Type="http://schemas.openxmlformats.org/officeDocument/2006/relationships/font" Target="fonts/Robot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1c00bb8f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1c00bb8f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1c00bb8fc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1c00bb8fc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1c00bb8fc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1c00bb8fc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d970a7b7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d970a7b7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1c00bb8fc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1c00bb8fc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1c00bb8fc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1c00bb8fc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d970a7b72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d970a7b72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d98ee1455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d98ee1455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d98ee1455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d98ee1455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1c00bb8fc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1c00bb8fc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1c00bb8fc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1c00bb8fc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9710cc1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d9710cc1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1c00bb8fc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1c00bb8fc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1c00bb8fc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1c00bb8fc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1c00bb8fc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1c00bb8fc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d971163f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d971163f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1c00bb8fc7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1c00bb8fc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38696da8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38696da8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1c00bb8fc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1c00bb8fc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1c00bb8fc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1c00bb8fc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f0375f0133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f0375f0133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f0375f0133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f0375f0133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5eaf7e7e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5eaf7e7e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38696da8e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38696da8e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031b5182f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031b5182f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 sz="2400">
                <a:solidFill>
                  <a:srgbClr val="000000"/>
                </a:solidFill>
              </a:defRPr>
            </a:lvl1pPr>
            <a:lvl2pPr indent="-381000" lvl="1" marL="914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  <a:defRPr sz="2400">
                <a:solidFill>
                  <a:srgbClr val="000000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grpSp>
        <p:nvGrpSpPr>
          <p:cNvPr id="22" name="Google Shape;22;p3"/>
          <p:cNvGrpSpPr/>
          <p:nvPr/>
        </p:nvGrpSpPr>
        <p:grpSpPr>
          <a:xfrm>
            <a:off x="6662058" y="4446667"/>
            <a:ext cx="2508020" cy="706541"/>
            <a:chOff x="6533328" y="4151184"/>
            <a:chExt cx="2610617" cy="740531"/>
          </a:xfrm>
        </p:grpSpPr>
        <p:sp>
          <p:nvSpPr>
            <p:cNvPr id="23" name="Google Shape;23;p3"/>
            <p:cNvSpPr/>
            <p:nvPr/>
          </p:nvSpPr>
          <p:spPr>
            <a:xfrm>
              <a:off x="8272445" y="4151316"/>
              <a:ext cx="871500" cy="7404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533328" y="4151316"/>
              <a:ext cx="871500" cy="7404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7404838" y="4151316"/>
              <a:ext cx="871500" cy="740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10800000">
              <a:off x="8272377" y="4151184"/>
              <a:ext cx="871500" cy="7404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" name="Google Shape;27;p3"/>
          <p:cNvGrpSpPr/>
          <p:nvPr/>
        </p:nvGrpSpPr>
        <p:grpSpPr>
          <a:xfrm>
            <a:off x="-51" y="-9166"/>
            <a:ext cx="9144142" cy="983316"/>
            <a:chOff x="-13" y="-12188"/>
            <a:chExt cx="8005728" cy="1161900"/>
          </a:xfrm>
        </p:grpSpPr>
        <p:sp>
          <p:nvSpPr>
            <p:cNvPr id="28" name="Google Shape;28;p3"/>
            <p:cNvSpPr/>
            <p:nvPr/>
          </p:nvSpPr>
          <p:spPr>
            <a:xfrm flipH="1">
              <a:off x="-13" y="-12188"/>
              <a:ext cx="187800" cy="1161900"/>
            </a:xfrm>
            <a:prstGeom prst="rect">
              <a:avLst/>
            </a:prstGeom>
            <a:solidFill>
              <a:srgbClr val="AB010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187715" y="-12188"/>
              <a:ext cx="7818000" cy="1161900"/>
            </a:xfrm>
            <a:prstGeom prst="rect">
              <a:avLst/>
            </a:prstGeom>
            <a:solidFill>
              <a:srgbClr val="0F24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rgbClr val="FFFFFF"/>
                </a:solidFill>
              </a:endParaRPr>
            </a:p>
          </p:txBody>
        </p:sp>
      </p:grpSp>
      <p:sp>
        <p:nvSpPr>
          <p:cNvPr id="30" name="Google Shape;30;p3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None/>
              <a:defRPr sz="3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" name="Google Shape;33;p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4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48" name="Google Shape;48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" name="Google Shape;53;p8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idx="1" type="body"/>
          </p:nvPr>
        </p:nvSpPr>
        <p:spPr>
          <a:xfrm>
            <a:off x="311700" y="1138181"/>
            <a:ext cx="8520600" cy="3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 sz="2400">
                <a:solidFill>
                  <a:srgbClr val="000000"/>
                </a:solidFill>
              </a:defRPr>
            </a:lvl1pPr>
            <a:lvl2pPr indent="-381000" lvl="1" marL="914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  <a:defRPr sz="2400">
                <a:solidFill>
                  <a:srgbClr val="000000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grpSp>
        <p:nvGrpSpPr>
          <p:cNvPr id="59" name="Google Shape;59;p9"/>
          <p:cNvGrpSpPr/>
          <p:nvPr/>
        </p:nvGrpSpPr>
        <p:grpSpPr>
          <a:xfrm>
            <a:off x="6830801" y="4578700"/>
            <a:ext cx="2338852" cy="574356"/>
            <a:chOff x="6533328" y="4151184"/>
            <a:chExt cx="2610617" cy="740531"/>
          </a:xfrm>
        </p:grpSpPr>
        <p:sp>
          <p:nvSpPr>
            <p:cNvPr id="60" name="Google Shape;60;p9"/>
            <p:cNvSpPr/>
            <p:nvPr/>
          </p:nvSpPr>
          <p:spPr>
            <a:xfrm>
              <a:off x="8272445" y="4151316"/>
              <a:ext cx="871500" cy="7404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6533328" y="4151316"/>
              <a:ext cx="871500" cy="7404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9"/>
            <p:cNvSpPr/>
            <p:nvPr/>
          </p:nvSpPr>
          <p:spPr>
            <a:xfrm>
              <a:off x="7404838" y="4151316"/>
              <a:ext cx="871500" cy="740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8272377" y="4151184"/>
              <a:ext cx="871500" cy="7404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" name="Google Shape;64;p9"/>
          <p:cNvGrpSpPr/>
          <p:nvPr/>
        </p:nvGrpSpPr>
        <p:grpSpPr>
          <a:xfrm>
            <a:off x="-51" y="-9166"/>
            <a:ext cx="9144142" cy="983316"/>
            <a:chOff x="-13" y="-12188"/>
            <a:chExt cx="8005728" cy="1161900"/>
          </a:xfrm>
        </p:grpSpPr>
        <p:sp>
          <p:nvSpPr>
            <p:cNvPr id="65" name="Google Shape;65;p9"/>
            <p:cNvSpPr/>
            <p:nvPr/>
          </p:nvSpPr>
          <p:spPr>
            <a:xfrm flipH="1">
              <a:off x="-13" y="-12188"/>
              <a:ext cx="187800" cy="1161900"/>
            </a:xfrm>
            <a:prstGeom prst="rect">
              <a:avLst/>
            </a:prstGeom>
            <a:solidFill>
              <a:srgbClr val="AB010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9"/>
            <p:cNvSpPr/>
            <p:nvPr/>
          </p:nvSpPr>
          <p:spPr>
            <a:xfrm flipH="1">
              <a:off x="187715" y="-12188"/>
              <a:ext cx="7818000" cy="1161900"/>
            </a:xfrm>
            <a:prstGeom prst="rect">
              <a:avLst/>
            </a:prstGeom>
            <a:solidFill>
              <a:srgbClr val="0F24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rgbClr val="FFFFFF"/>
                </a:solidFill>
              </a:endParaRPr>
            </a:p>
          </p:txBody>
        </p:sp>
      </p:grpSp>
      <p:sp>
        <p:nvSpPr>
          <p:cNvPr id="67" name="Google Shape;67;p9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None/>
              <a:defRPr sz="3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0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0" name="Google Shape;70;p1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1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" name="Google Shape;79;p1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11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1" name="Google Shape;81;p11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2" name="Google Shape;82;p1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  <p:sldLayoutId id="2147483655" r:id="rId3"/>
    <p:sldLayoutId id="2147483656" r:id="rId4"/>
    <p:sldLayoutId id="2147483657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s.google.com/presentation/d/1Vwory9YRGbf8KkjSLbzA70wW83Wc_6515L5PWd7tO-4/edit?usp=sharing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w3schools.com/js/tryit.asp?filename=tryjs_math_constant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w3schools.com/js/tryit.asp?filename=tryjs_math_round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onecompiler.com/html/44gn3hby7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w3schools.com/js/tryit.asp?filename=tryjs_math_sign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w3schools.com/js/tryit.asp?filename=tryjs_math_random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onecompiler.com/html/439m4sz4w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-scm.com/downloads" TargetMode="External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hyperlink" Target="https://git-scm.com/download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w3schools.com/js/tryit.asp?filename=tryjs_ifthen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w3schools.com/js/tryit.asp?filename=tryjs_ifthenelse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onecompiler.com/html/439m648w7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w3schools.com/js/tryit.asp?filename=tryjs_switch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w3schools.com/js/tryit.asp?filename=tryjs_loop_for_ex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w3schools.com/js/tryit.asp?filename=tryjs_object_for_in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onecompiler.com/html/44gnaeffc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w3schools.com/js/tryit.asp?filename=tryjs_while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onecompiler.com/html/44gnatw9b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w3schools.com/js/tryit.asp?filename=tryjs_console" TargetMode="External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onecompiler.com/html/44pe5ykhu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onecompiler.com/html/44pe6ys75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exchangerate-api.com" TargetMode="External"/><Relationship Id="rId4" Type="http://schemas.openxmlformats.org/officeDocument/2006/relationships/hyperlink" Target="http://exchangerate-api.com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onecompiler.com/html/42stam6t4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ctrTitle"/>
          </p:nvPr>
        </p:nvSpPr>
        <p:spPr>
          <a:xfrm>
            <a:off x="0" y="811000"/>
            <a:ext cx="9022500" cy="13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JavaScript: Math, Condiciones, Bucles y Depuración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13450" y="4658700"/>
            <a:ext cx="284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Prof.Ramiro Estigarribia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8100" y="4733775"/>
            <a:ext cx="261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Link a la presentación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4" name="Google Shape;9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6800" y="2309200"/>
            <a:ext cx="3384250" cy="2538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Permite realizar cálculos matemáticos.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007020"/>
                </a:solidFill>
              </a:rPr>
              <a:t>Math</a:t>
            </a:r>
            <a:r>
              <a:rPr lang="es-419">
                <a:solidFill>
                  <a:srgbClr val="333333"/>
                </a:solidFill>
              </a:rPr>
              <a:t>.E </a:t>
            </a:r>
            <a:r>
              <a:rPr lang="es-419">
                <a:solidFill>
                  <a:srgbClr val="888888"/>
                </a:solidFill>
              </a:rPr>
              <a:t>// devuelve el número de Euler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007020"/>
                </a:solidFill>
              </a:rPr>
              <a:t>Math</a:t>
            </a:r>
            <a:r>
              <a:rPr lang="es-419">
                <a:solidFill>
                  <a:srgbClr val="333333"/>
                </a:solidFill>
              </a:rPr>
              <a:t>.PI </a:t>
            </a:r>
            <a:r>
              <a:rPr lang="es-419">
                <a:solidFill>
                  <a:srgbClr val="888888"/>
                </a:solidFill>
              </a:rPr>
              <a:t>// devuelve PI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007020"/>
                </a:solidFill>
              </a:rPr>
              <a:t>Math</a:t>
            </a:r>
            <a:r>
              <a:rPr lang="es-419">
                <a:solidFill>
                  <a:srgbClr val="333333"/>
                </a:solidFill>
              </a:rPr>
              <a:t>.SQRT2 </a:t>
            </a:r>
            <a:r>
              <a:rPr lang="es-419">
                <a:solidFill>
                  <a:srgbClr val="888888"/>
                </a:solidFill>
              </a:rPr>
              <a:t>// devuelve la raíz cuadrada de 2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007020"/>
                </a:solidFill>
              </a:rPr>
              <a:t>Math</a:t>
            </a:r>
            <a:r>
              <a:rPr lang="es-419">
                <a:solidFill>
                  <a:srgbClr val="333333"/>
                </a:solidFill>
              </a:rPr>
              <a:t>.LN10 </a:t>
            </a:r>
            <a:r>
              <a:rPr lang="es-419">
                <a:solidFill>
                  <a:srgbClr val="888888"/>
                </a:solidFill>
              </a:rPr>
              <a:t>// devuelve el logaritmo natural de 10</a:t>
            </a:r>
            <a:endParaRPr>
              <a:solidFill>
                <a:srgbClr val="88888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👉 Ejemplo práctico:</a:t>
            </a:r>
            <a:br>
              <a:rPr lang="es-419"/>
            </a:br>
            <a:r>
              <a:rPr lang="es-419"/>
              <a:t>console.log(Math.PI); // 3.141592653589793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0795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🔢</a:t>
            </a:r>
            <a:r>
              <a:rPr lang="es-419"/>
              <a:t>El Objeto Math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64100" y="210775"/>
            <a:ext cx="254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-419" sz="1600">
                <a:latin typeface="Roboto"/>
                <a:ea typeface="Roboto"/>
                <a:cs typeface="Roboto"/>
                <a:sym typeface="Roboto"/>
              </a:rPr>
            </a:br>
            <a:r>
              <a:rPr lang="es-419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212775" y="1138175"/>
            <a:ext cx="89313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Math.round</a:t>
            </a:r>
            <a:r>
              <a:rPr lang="es-419">
                <a:solidFill>
                  <a:srgbClr val="6600EE"/>
                </a:solidFill>
              </a:rPr>
              <a:t>(x)</a:t>
            </a:r>
            <a:r>
              <a:rPr lang="es-419">
                <a:solidFill>
                  <a:srgbClr val="4A86E8"/>
                </a:solidFill>
              </a:rPr>
              <a:t> </a:t>
            </a:r>
            <a:r>
              <a:rPr lang="es-419"/>
              <a:t>Retorna el número entero más cercano.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Math.ceil</a:t>
            </a:r>
            <a:r>
              <a:rPr lang="es-419">
                <a:solidFill>
                  <a:srgbClr val="6600EE"/>
                </a:solidFill>
              </a:rPr>
              <a:t>(x) </a:t>
            </a:r>
            <a:r>
              <a:rPr lang="es-419"/>
              <a:t>Retorna el número entero más cercano hacia arriba.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Math.floor</a:t>
            </a:r>
            <a:r>
              <a:rPr lang="es-419">
                <a:solidFill>
                  <a:srgbClr val="6600EE"/>
                </a:solidFill>
              </a:rPr>
              <a:t>(x)</a:t>
            </a:r>
            <a:r>
              <a:rPr lang="es-419">
                <a:solidFill>
                  <a:srgbClr val="4A86E8"/>
                </a:solidFill>
              </a:rPr>
              <a:t> </a:t>
            </a:r>
            <a:r>
              <a:rPr lang="es-419"/>
              <a:t>Retorna el entero más cercano hacia abajo.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A86E8"/>
                </a:solidFill>
              </a:rPr>
              <a:t>Math.trunc</a:t>
            </a:r>
            <a:r>
              <a:rPr lang="es-419">
                <a:solidFill>
                  <a:srgbClr val="6600EE"/>
                </a:solidFill>
              </a:rPr>
              <a:t>(x)</a:t>
            </a:r>
            <a:r>
              <a:rPr lang="es-419"/>
              <a:t> Retorna la parte entera de x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</a:rPr>
              <a:t>Ejemplo:</a:t>
            </a:r>
            <a:r>
              <a:rPr lang="es-419">
                <a:solidFill>
                  <a:srgbClr val="007020"/>
                </a:solidFill>
                <a:highlight>
                  <a:srgbClr val="FFFFFF"/>
                </a:highlight>
              </a:rPr>
              <a:t> </a:t>
            </a:r>
            <a:r>
              <a:rPr lang="es-419">
                <a:solidFill>
                  <a:srgbClr val="4A86E8"/>
                </a:solidFill>
                <a:highlight>
                  <a:srgbClr val="FFFFFF"/>
                </a:highlight>
              </a:rPr>
              <a:t>Math.round</a:t>
            </a:r>
            <a:r>
              <a:rPr lang="es-419">
                <a:solidFill>
                  <a:srgbClr val="6600EE"/>
                </a:solidFill>
              </a:rPr>
              <a:t>(4.6)</a:t>
            </a:r>
            <a:r>
              <a:rPr lang="es-419">
                <a:solidFill>
                  <a:srgbClr val="333333"/>
                </a:solidFill>
                <a:highlight>
                  <a:srgbClr val="FFFFFF"/>
                </a:highlight>
              </a:rPr>
              <a:t>;</a:t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✨</a:t>
            </a:r>
            <a:r>
              <a:rPr lang="es-419"/>
              <a:t>Redondear Números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664100" y="210775"/>
            <a:ext cx="254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-419" sz="1600">
                <a:latin typeface="Roboto"/>
                <a:ea typeface="Roboto"/>
                <a:cs typeface="Roboto"/>
                <a:sym typeface="Roboto"/>
              </a:rPr>
            </a:br>
            <a:r>
              <a:rPr lang="es-419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Actividad: Implementar, comprender y personalizar el código en Visual Studio Code y compartir. (5 minutos)</a:t>
            </a:r>
            <a:endParaRPr/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SzPts val="2400"/>
              <a:buAutoNum type="arabicPeriod"/>
            </a:pPr>
            <a:r>
              <a:rPr lang="es-419"/>
              <a:t>Abrir Visual Studio Code</a:t>
            </a:r>
            <a:r>
              <a:rPr lang="es-419"/>
              <a:t>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419"/>
              <a:t>Crear una carpeta (Clase 6) y 1 archivo: redondeo.html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-419"/>
              <a:t>Realizar cambios y mejoras! </a:t>
            </a:r>
            <a:r>
              <a:rPr lang="es-419">
                <a:solidFill>
                  <a:schemeClr val="accent6"/>
                </a:solidFill>
              </a:rPr>
              <a:t>Agregar otro número: 9.9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/>
              <a:t>Compartir el código!</a:t>
            </a:r>
            <a:br>
              <a:rPr lang="es-419"/>
            </a:br>
            <a:r>
              <a:rPr lang="es-419" u="sng">
                <a:solidFill>
                  <a:schemeClr val="hlink"/>
                </a:solidFill>
                <a:hlinkClick r:id="rId3"/>
              </a:rPr>
              <a:t>https://onecompiler.com/html/44gn3hby7</a:t>
            </a:r>
            <a:endParaRPr/>
          </a:p>
        </p:txBody>
      </p:sp>
      <p:sp>
        <p:nvSpPr>
          <p:cNvPr id="114" name="Google Shape;114;p16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🔢</a:t>
            </a:r>
            <a:r>
              <a:rPr lang="es-419">
                <a:solidFill>
                  <a:srgbClr val="FF9900"/>
                </a:solidFill>
              </a:rPr>
              <a:t>Actividad 1</a:t>
            </a:r>
            <a:r>
              <a:rPr lang="es-419">
                <a:solidFill>
                  <a:schemeClr val="lt1"/>
                </a:solidFill>
              </a:rPr>
              <a:t>: </a:t>
            </a:r>
            <a:r>
              <a:rPr lang="es-419">
                <a:solidFill>
                  <a:schemeClr val="lt1"/>
                </a:solidFill>
              </a:rPr>
              <a:t>Math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33333"/>
                </a:solidFill>
                <a:highlight>
                  <a:srgbClr val="FFFFFF"/>
                </a:highlight>
              </a:rPr>
              <a:t>Retorna el signo: 1 si es positivo, -1 si es negativo, o cero.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</a:rPr>
              <a:t>Ejemplo:</a:t>
            </a:r>
            <a:r>
              <a:rPr lang="es-419">
                <a:solidFill>
                  <a:srgbClr val="007020"/>
                </a:solidFill>
                <a:highlight>
                  <a:srgbClr val="FFFFFF"/>
                </a:highlight>
              </a:rPr>
              <a:t> </a:t>
            </a:r>
            <a:r>
              <a:rPr lang="es-419">
                <a:solidFill>
                  <a:srgbClr val="007020"/>
                </a:solidFill>
              </a:rPr>
              <a:t>Math</a:t>
            </a:r>
            <a:r>
              <a:rPr lang="es-419">
                <a:solidFill>
                  <a:srgbClr val="333333"/>
                </a:solidFill>
              </a:rPr>
              <a:t>.sign(</a:t>
            </a:r>
            <a:r>
              <a:rPr b="1" lang="es-419">
                <a:solidFill>
                  <a:srgbClr val="0000DD"/>
                </a:solidFill>
              </a:rPr>
              <a:t>5</a:t>
            </a:r>
            <a:r>
              <a:rPr lang="es-419">
                <a:solidFill>
                  <a:srgbClr val="333333"/>
                </a:solidFill>
              </a:rPr>
              <a:t>);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228600" marR="228600" rtl="0" algn="l">
              <a:lnSpc>
                <a:spcPct val="110795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➕ </a:t>
            </a:r>
            <a:r>
              <a:rPr lang="es-419"/>
              <a:t>Math.sign()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-419">
                <a:latin typeface="Roboto"/>
                <a:ea typeface="Roboto"/>
                <a:cs typeface="Roboto"/>
                <a:sym typeface="Roboto"/>
              </a:rPr>
            </a:br>
            <a:r>
              <a:rPr lang="es-419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33333"/>
                </a:solidFill>
                <a:highlight>
                  <a:srgbClr val="FFFFFF"/>
                </a:highlight>
              </a:rPr>
              <a:t>Permite realizar sorteos.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33333"/>
                </a:solidFill>
                <a:highlight>
                  <a:srgbClr val="FFFFFF"/>
                </a:highlight>
              </a:rPr>
              <a:t>D</a:t>
            </a:r>
            <a:r>
              <a:rPr lang="es-419">
                <a:solidFill>
                  <a:srgbClr val="333333"/>
                </a:solidFill>
                <a:highlight>
                  <a:srgbClr val="FFFFFF"/>
                </a:highlight>
              </a:rPr>
              <a:t>evuelve un número aleatorio entre 0 y 1.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007020"/>
                </a:solidFill>
                <a:highlight>
                  <a:srgbClr val="FFFFFF"/>
                </a:highlight>
              </a:rPr>
              <a:t>Math</a:t>
            </a:r>
            <a:r>
              <a:rPr lang="es-419">
                <a:solidFill>
                  <a:srgbClr val="333333"/>
                </a:solidFill>
                <a:highlight>
                  <a:srgbClr val="FFFFFF"/>
                </a:highlight>
              </a:rPr>
              <a:t>.random()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228600" marR="228600" rtl="0" algn="l">
              <a:lnSpc>
                <a:spcPct val="110795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228600" marR="228600" rtl="0" algn="l">
              <a:lnSpc>
                <a:spcPct val="110795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🎯</a:t>
            </a:r>
            <a:r>
              <a:rPr lang="es-419"/>
              <a:t>Math.random()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-419">
                <a:latin typeface="Roboto"/>
                <a:ea typeface="Roboto"/>
                <a:cs typeface="Roboto"/>
                <a:sym typeface="Roboto"/>
              </a:rPr>
            </a:br>
            <a:r>
              <a:rPr lang="es-419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/>
              <a:t>Actividad: Implementar, comprender y personalizar el código en Visual Studio Code y compartir. (5 minutos)</a:t>
            </a:r>
            <a:endParaRPr sz="2200"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AutoNum type="arabicPeriod"/>
            </a:pPr>
            <a:r>
              <a:rPr lang="es-419" sz="2200"/>
              <a:t>Abrir Visual Studio Code.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419" sz="2200"/>
              <a:t>Crear 1 archivo: sorteo.html</a:t>
            </a:r>
            <a:endParaRPr sz="22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-419"/>
              <a:t>Realizar cambios y mejoras! </a:t>
            </a:r>
            <a:r>
              <a:rPr lang="es-419">
                <a:solidFill>
                  <a:schemeClr val="accent6"/>
                </a:solidFill>
              </a:rPr>
              <a:t>Agregar sorteo entre 0 y 100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/>
              <a:t>Compartir el código!</a:t>
            </a:r>
            <a:br>
              <a:rPr lang="es-419" sz="2200"/>
            </a:br>
            <a:r>
              <a:rPr lang="es-419" sz="2200" u="sng">
                <a:solidFill>
                  <a:schemeClr val="hlink"/>
                </a:solidFill>
                <a:hlinkClick r:id="rId3"/>
              </a:rPr>
              <a:t>https://onecompiler.com/html/439m4sz4w</a:t>
            </a:r>
            <a:endParaRPr sz="2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34" name="Google Shape;134;p19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🎯</a:t>
            </a:r>
            <a:r>
              <a:rPr lang="es-419">
                <a:solidFill>
                  <a:srgbClr val="FF9900"/>
                </a:solidFill>
              </a:rPr>
              <a:t>Actividad 2</a:t>
            </a:r>
            <a:r>
              <a:rPr lang="es-419">
                <a:solidFill>
                  <a:schemeClr val="lt1"/>
                </a:solidFill>
              </a:rPr>
              <a:t>: Sorteo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Desde Visual Studio Code vamos a subir nuestros códigos a Github.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2200"/>
              <a:t>* Si no aparece la opción: hay que instalar Git y luego reiniciar la computadora: </a:t>
            </a:r>
            <a:r>
              <a:rPr lang="es-419" sz="2200" u="sng">
                <a:solidFill>
                  <a:schemeClr val="hlink"/>
                </a:solidFill>
                <a:hlinkClick r:id="rId3"/>
              </a:rPr>
              <a:t>https://git-scm.com/downloads</a:t>
            </a:r>
            <a:endParaRPr sz="2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es-419"/>
            </a:br>
            <a:br>
              <a:rPr lang="es-419"/>
            </a:br>
            <a:r>
              <a:rPr lang="es-419" sz="2300"/>
              <a:t>Click en este ícono -&gt;</a:t>
            </a:r>
            <a:endParaRPr sz="23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0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Subir Aplicación a GitHub</a:t>
            </a:r>
            <a:endParaRPr/>
          </a:p>
        </p:txBody>
      </p:sp>
      <p:pic>
        <p:nvPicPr>
          <p:cNvPr id="141" name="Google Shape;141;p20"/>
          <p:cNvPicPr preferRelativeResize="0"/>
          <p:nvPr/>
        </p:nvPicPr>
        <p:blipFill rotWithShape="1">
          <a:blip r:embed="rId4">
            <a:alphaModFix/>
          </a:blip>
          <a:srcRect b="57701" l="0" r="0" t="0"/>
          <a:stretch/>
        </p:blipFill>
        <p:spPr>
          <a:xfrm>
            <a:off x="3288875" y="3006575"/>
            <a:ext cx="5173324" cy="1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Subir Aplicación a GitHub</a:t>
            </a:r>
            <a:endParaRPr/>
          </a:p>
        </p:txBody>
      </p:sp>
      <p:pic>
        <p:nvPicPr>
          <p:cNvPr id="147" name="Google Shape;14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9300" y="939244"/>
            <a:ext cx="5494712" cy="399448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0" y="1174050"/>
            <a:ext cx="36492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419"/>
            </a:br>
            <a:br>
              <a:rPr lang="es-419"/>
            </a:br>
            <a:r>
              <a:rPr lang="es-419"/>
              <a:t>    Click en este ícono -&gt;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2100"/>
              <a:t>Luego inicializar repositorio y </a:t>
            </a:r>
            <a:br>
              <a:rPr lang="es-419" sz="2100"/>
            </a:br>
            <a:r>
              <a:rPr lang="es-419" sz="2100"/>
              <a:t>finalmente Publicar en Github.</a:t>
            </a:r>
            <a:endParaRPr sz="2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/>
              <a:t>* Si no aparece la opción: hay que instalar Git y luego reiniciar la computadora: </a:t>
            </a:r>
            <a:r>
              <a:rPr lang="es-419" u="sng">
                <a:solidFill>
                  <a:schemeClr val="hlink"/>
                </a:solidFill>
                <a:hlinkClick r:id="rId4"/>
              </a:rPr>
              <a:t>https://git-scm.com/downloads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33333"/>
                </a:solidFill>
                <a:highlight>
                  <a:srgbClr val="FFFFFF"/>
                </a:highlight>
              </a:rPr>
              <a:t>Se utilizan para realizar acciones basadas en diferentes condiciones.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</a:rPr>
              <a:t>Condicional if:</a:t>
            </a:r>
            <a:r>
              <a:rPr lang="es-419">
                <a:solidFill>
                  <a:srgbClr val="333333"/>
                </a:solidFill>
                <a:highlight>
                  <a:srgbClr val="FFFFFF"/>
                </a:highlight>
              </a:rPr>
              <a:t> Se ejecutará si una condición es verdadera.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08800"/>
                </a:solidFill>
              </a:rPr>
              <a:t>if</a:t>
            </a:r>
            <a:r>
              <a:rPr lang="es-419">
                <a:solidFill>
                  <a:srgbClr val="333333"/>
                </a:solidFill>
              </a:rPr>
              <a:t> (condici</a:t>
            </a:r>
            <a:r>
              <a:rPr lang="es-419">
                <a:solidFill>
                  <a:srgbClr val="333333"/>
                </a:solidFill>
              </a:rPr>
              <a:t>ón</a:t>
            </a:r>
            <a:r>
              <a:rPr lang="es-419">
                <a:solidFill>
                  <a:srgbClr val="333333"/>
                </a:solidFill>
              </a:rPr>
              <a:t>) {</a:t>
            </a:r>
            <a:br>
              <a:rPr lang="es-419">
                <a:solidFill>
                  <a:srgbClr val="333333"/>
                </a:solidFill>
              </a:rPr>
            </a:br>
            <a:r>
              <a:rPr lang="es-419">
                <a:solidFill>
                  <a:srgbClr val="333333"/>
                </a:solidFill>
              </a:rPr>
              <a:t>  </a:t>
            </a:r>
            <a:r>
              <a:rPr lang="es-419">
                <a:solidFill>
                  <a:srgbClr val="888888"/>
                </a:solidFill>
              </a:rPr>
              <a:t>//  código que se ejecutará si la condición es verdadera</a:t>
            </a:r>
            <a:br>
              <a:rPr lang="es-419">
                <a:solidFill>
                  <a:srgbClr val="333333"/>
                </a:solidFill>
              </a:rPr>
            </a:br>
            <a:r>
              <a:rPr lang="es-419">
                <a:solidFill>
                  <a:srgbClr val="333333"/>
                </a:solidFill>
              </a:rPr>
              <a:t>}</a:t>
            </a:r>
            <a:endParaRPr>
              <a:solidFill>
                <a:srgbClr val="333333"/>
              </a:solidFill>
            </a:endParaRPr>
          </a:p>
          <a:p>
            <a:pPr indent="0" lvl="0" marL="228600" marR="228600" rtl="0" algn="l">
              <a:lnSpc>
                <a:spcPct val="110795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2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✅ Condiciones </a:t>
            </a:r>
            <a:r>
              <a:rPr lang="es-419"/>
              <a:t>if, else</a:t>
            </a:r>
            <a:endParaRPr/>
          </a:p>
        </p:txBody>
      </p:sp>
      <p:sp>
        <p:nvSpPr>
          <p:cNvPr id="155" name="Google Shape;155;p22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-419">
                <a:latin typeface="Roboto"/>
                <a:ea typeface="Roboto"/>
                <a:cs typeface="Roboto"/>
                <a:sym typeface="Roboto"/>
              </a:rPr>
            </a:br>
            <a:r>
              <a:rPr lang="es-419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Permite especificar un bloque de código que se ejecutará si la condición es falsa.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08800"/>
                </a:solidFill>
              </a:rPr>
              <a:t>if</a:t>
            </a:r>
            <a:r>
              <a:rPr lang="es-419">
                <a:solidFill>
                  <a:srgbClr val="333333"/>
                </a:solidFill>
              </a:rPr>
              <a:t> (condici</a:t>
            </a:r>
            <a:r>
              <a:rPr lang="es-419">
                <a:solidFill>
                  <a:srgbClr val="333333"/>
                </a:solidFill>
              </a:rPr>
              <a:t>ón</a:t>
            </a:r>
            <a:r>
              <a:rPr lang="es-419">
                <a:solidFill>
                  <a:srgbClr val="333333"/>
                </a:solidFill>
              </a:rPr>
              <a:t>) {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33333"/>
                </a:solidFill>
              </a:rPr>
              <a:t>  </a:t>
            </a:r>
            <a:r>
              <a:rPr lang="es-419">
                <a:solidFill>
                  <a:srgbClr val="888888"/>
                </a:solidFill>
              </a:rPr>
              <a:t>//  c</a:t>
            </a:r>
            <a:r>
              <a:rPr lang="es-419">
                <a:solidFill>
                  <a:srgbClr val="888888"/>
                </a:solidFill>
              </a:rPr>
              <a:t>ódigo que se ejecutará si la condición es verdadera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33333"/>
                </a:solidFill>
              </a:rPr>
              <a:t>} </a:t>
            </a:r>
            <a:r>
              <a:rPr b="1" lang="es-419">
                <a:solidFill>
                  <a:srgbClr val="008800"/>
                </a:solidFill>
              </a:rPr>
              <a:t>else</a:t>
            </a:r>
            <a:r>
              <a:rPr lang="es-419">
                <a:solidFill>
                  <a:srgbClr val="333333"/>
                </a:solidFill>
              </a:rPr>
              <a:t> {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33333"/>
                </a:solidFill>
              </a:rPr>
              <a:t>  </a:t>
            </a:r>
            <a:r>
              <a:rPr lang="es-419">
                <a:solidFill>
                  <a:srgbClr val="888888"/>
                </a:solidFill>
              </a:rPr>
              <a:t>//  </a:t>
            </a:r>
            <a:r>
              <a:rPr lang="es-419">
                <a:solidFill>
                  <a:srgbClr val="888888"/>
                </a:solidFill>
              </a:rPr>
              <a:t>código que se ejecutará si la condición es falsa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33333"/>
                </a:solidFill>
              </a:rPr>
              <a:t>}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3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✅ </a:t>
            </a:r>
            <a:r>
              <a:rPr lang="es-419"/>
              <a:t>Declaración: Else</a:t>
            </a:r>
            <a:endParaRPr/>
          </a:p>
        </p:txBody>
      </p:sp>
      <p:sp>
        <p:nvSpPr>
          <p:cNvPr id="162" name="Google Shape;162;p23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-419">
                <a:latin typeface="Roboto"/>
                <a:ea typeface="Roboto"/>
                <a:cs typeface="Roboto"/>
                <a:sym typeface="Roboto"/>
              </a:rPr>
            </a:br>
            <a:r>
              <a:rPr lang="es-419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/>
              <a:t>Actividad: Implementar, comprender y personalizar el código en Visual Studio Code y compartir. (5 minutos)</a:t>
            </a:r>
            <a:endParaRPr sz="2200"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AutoNum type="arabicPeriod"/>
            </a:pPr>
            <a:r>
              <a:rPr lang="es-419" sz="2200"/>
              <a:t>Abrir Visual Studio Code.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419" sz="2200"/>
              <a:t>Crear 1 archivo: else.html</a:t>
            </a:r>
            <a:endParaRPr sz="22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-419"/>
              <a:t>Realizar cambios y mejoras!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/>
              <a:t>Compartir el código! </a:t>
            </a:r>
            <a:r>
              <a:rPr lang="es-419">
                <a:solidFill>
                  <a:schemeClr val="accent6"/>
                </a:solidFill>
              </a:rPr>
              <a:t>Cambiar los colores</a:t>
            </a:r>
            <a:br>
              <a:rPr lang="es-419" sz="2200"/>
            </a:br>
            <a:r>
              <a:rPr lang="es-419" sz="2200" u="sng">
                <a:solidFill>
                  <a:schemeClr val="hlink"/>
                </a:solidFill>
                <a:hlinkClick r:id="rId3"/>
              </a:rPr>
              <a:t>https://onecompiler.com/html/439m648w7</a:t>
            </a:r>
            <a:endParaRPr sz="2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68" name="Google Shape;168;p24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9900"/>
                </a:solidFill>
              </a:rPr>
              <a:t>✅ </a:t>
            </a:r>
            <a:r>
              <a:rPr lang="es-419">
                <a:solidFill>
                  <a:srgbClr val="FF9900"/>
                </a:solidFill>
              </a:rPr>
              <a:t>Actividad 3</a:t>
            </a:r>
            <a:r>
              <a:rPr lang="es-419">
                <a:solidFill>
                  <a:schemeClr val="lt1"/>
                </a:solidFill>
              </a:rPr>
              <a:t>: If / Else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311700" y="950186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Permite seleccionar entre muchas opciones.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rgbClr val="008800"/>
                </a:solidFill>
              </a:rPr>
              <a:t>switch</a:t>
            </a:r>
            <a:r>
              <a:rPr lang="es-419" sz="2100">
                <a:solidFill>
                  <a:srgbClr val="333333"/>
                </a:solidFill>
              </a:rPr>
              <a:t>(expression) {</a:t>
            </a:r>
            <a:endParaRPr sz="2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>
                <a:solidFill>
                  <a:srgbClr val="333333"/>
                </a:solidFill>
              </a:rPr>
              <a:t>  </a:t>
            </a:r>
            <a:r>
              <a:rPr b="1" lang="es-419" sz="2100">
                <a:solidFill>
                  <a:srgbClr val="008800"/>
                </a:solidFill>
              </a:rPr>
              <a:t>case</a:t>
            </a:r>
            <a:r>
              <a:rPr lang="es-419" sz="2100">
                <a:solidFill>
                  <a:srgbClr val="333333"/>
                </a:solidFill>
              </a:rPr>
              <a:t> x:</a:t>
            </a:r>
            <a:endParaRPr sz="2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>
                <a:solidFill>
                  <a:srgbClr val="333333"/>
                </a:solidFill>
              </a:rPr>
              <a:t>    </a:t>
            </a:r>
            <a:r>
              <a:rPr lang="es-419" sz="2100">
                <a:solidFill>
                  <a:srgbClr val="888888"/>
                </a:solidFill>
              </a:rPr>
              <a:t>// code block</a:t>
            </a:r>
            <a:endParaRPr sz="2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>
                <a:solidFill>
                  <a:srgbClr val="333333"/>
                </a:solidFill>
              </a:rPr>
              <a:t>    </a:t>
            </a:r>
            <a:r>
              <a:rPr b="1" lang="es-419" sz="2100">
                <a:solidFill>
                  <a:srgbClr val="008800"/>
                </a:solidFill>
              </a:rPr>
              <a:t>break</a:t>
            </a:r>
            <a:r>
              <a:rPr lang="es-419" sz="2100">
                <a:solidFill>
                  <a:srgbClr val="333333"/>
                </a:solidFill>
              </a:rPr>
              <a:t>;</a:t>
            </a:r>
            <a:endParaRPr sz="2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>
                <a:solidFill>
                  <a:srgbClr val="333333"/>
                </a:solidFill>
              </a:rPr>
              <a:t>  </a:t>
            </a:r>
            <a:r>
              <a:rPr b="1" lang="es-419" sz="2100">
                <a:solidFill>
                  <a:srgbClr val="008800"/>
                </a:solidFill>
              </a:rPr>
              <a:t>case</a:t>
            </a:r>
            <a:r>
              <a:rPr lang="es-419" sz="2100">
                <a:solidFill>
                  <a:srgbClr val="333333"/>
                </a:solidFill>
              </a:rPr>
              <a:t> y:</a:t>
            </a:r>
            <a:endParaRPr sz="2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>
                <a:solidFill>
                  <a:srgbClr val="333333"/>
                </a:solidFill>
              </a:rPr>
              <a:t>    </a:t>
            </a:r>
            <a:r>
              <a:rPr lang="es-419" sz="2100">
                <a:solidFill>
                  <a:srgbClr val="888888"/>
                </a:solidFill>
              </a:rPr>
              <a:t>// code block</a:t>
            </a:r>
            <a:endParaRPr sz="2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>
                <a:solidFill>
                  <a:srgbClr val="333333"/>
                </a:solidFill>
              </a:rPr>
              <a:t>    </a:t>
            </a:r>
            <a:r>
              <a:rPr b="1" lang="es-419" sz="2100">
                <a:solidFill>
                  <a:srgbClr val="008800"/>
                </a:solidFill>
              </a:rPr>
              <a:t>break</a:t>
            </a:r>
            <a:r>
              <a:rPr lang="es-419" sz="2100">
                <a:solidFill>
                  <a:srgbClr val="333333"/>
                </a:solidFill>
              </a:rPr>
              <a:t>;</a:t>
            </a:r>
            <a:endParaRPr sz="2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>
                <a:solidFill>
                  <a:srgbClr val="333333"/>
                </a:solidFill>
              </a:rPr>
              <a:t>  </a:t>
            </a:r>
            <a:r>
              <a:rPr b="1" lang="es-419" sz="2100">
                <a:solidFill>
                  <a:srgbClr val="008800"/>
                </a:solidFill>
              </a:rPr>
              <a:t>default</a:t>
            </a:r>
            <a:r>
              <a:rPr lang="es-419" sz="2100">
                <a:solidFill>
                  <a:srgbClr val="333333"/>
                </a:solidFill>
              </a:rPr>
              <a:t>:</a:t>
            </a:r>
            <a:endParaRPr sz="2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>
                <a:solidFill>
                  <a:srgbClr val="333333"/>
                </a:solidFill>
              </a:rPr>
              <a:t>    </a:t>
            </a:r>
            <a:r>
              <a:rPr lang="es-419" sz="2100">
                <a:solidFill>
                  <a:srgbClr val="888888"/>
                </a:solidFill>
              </a:rPr>
              <a:t>// code block</a:t>
            </a:r>
            <a:endParaRPr sz="21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>
                <a:solidFill>
                  <a:srgbClr val="333333"/>
                </a:solidFill>
              </a:rPr>
              <a:t>}</a:t>
            </a:r>
            <a:endParaRPr sz="21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74" name="Google Shape;174;p25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Instrucción: Switch</a:t>
            </a:r>
            <a:endParaRPr/>
          </a:p>
        </p:txBody>
      </p:sp>
      <p:sp>
        <p:nvSpPr>
          <p:cNvPr id="175" name="Google Shape;175;p25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-419">
                <a:latin typeface="Roboto"/>
                <a:ea typeface="Roboto"/>
                <a:cs typeface="Roboto"/>
                <a:sym typeface="Roboto"/>
              </a:rPr>
            </a:br>
            <a:r>
              <a:rPr lang="es-419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Permite ejecutar un bloque de código varias veces.</a:t>
            </a:r>
            <a:endParaRPr/>
          </a:p>
          <a:p>
            <a:pPr indent="0" lvl="0" marL="0" rtl="0" algn="l">
              <a:lnSpc>
                <a:spcPct val="110795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08800"/>
                </a:solidFill>
              </a:rPr>
              <a:t>for</a:t>
            </a:r>
            <a:r>
              <a:rPr lang="es-419">
                <a:solidFill>
                  <a:srgbClr val="333333"/>
                </a:solidFill>
              </a:rPr>
              <a:t> (</a:t>
            </a:r>
            <a:r>
              <a:rPr b="1" lang="es-419">
                <a:solidFill>
                  <a:srgbClr val="008800"/>
                </a:solidFill>
              </a:rPr>
              <a:t>let</a:t>
            </a:r>
            <a:r>
              <a:rPr lang="es-419">
                <a:solidFill>
                  <a:srgbClr val="333333"/>
                </a:solidFill>
              </a:rPr>
              <a:t> i = </a:t>
            </a:r>
            <a:r>
              <a:rPr b="1" lang="es-419">
                <a:solidFill>
                  <a:srgbClr val="0000DD"/>
                </a:solidFill>
              </a:rPr>
              <a:t>0</a:t>
            </a:r>
            <a:r>
              <a:rPr lang="es-419">
                <a:solidFill>
                  <a:srgbClr val="333333"/>
                </a:solidFill>
              </a:rPr>
              <a:t>; i &lt; </a:t>
            </a:r>
            <a:r>
              <a:rPr b="1" lang="es-419">
                <a:solidFill>
                  <a:srgbClr val="0000DD"/>
                </a:solidFill>
              </a:rPr>
              <a:t>3</a:t>
            </a:r>
            <a:r>
              <a:rPr lang="es-419">
                <a:solidFill>
                  <a:srgbClr val="333333"/>
                </a:solidFill>
              </a:rPr>
              <a:t>; i++) {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33333"/>
                </a:solidFill>
              </a:rPr>
              <a:t>  text += </a:t>
            </a:r>
            <a:r>
              <a:rPr lang="es-419">
                <a:solidFill>
                  <a:srgbClr val="333333"/>
                </a:solidFill>
                <a:highlight>
                  <a:srgbClr val="FFF0F0"/>
                </a:highlight>
              </a:rPr>
              <a:t>"El numero es "</a:t>
            </a:r>
            <a:r>
              <a:rPr lang="es-419">
                <a:solidFill>
                  <a:srgbClr val="333333"/>
                </a:solidFill>
              </a:rPr>
              <a:t> + i + </a:t>
            </a:r>
            <a:r>
              <a:rPr lang="es-419">
                <a:solidFill>
                  <a:srgbClr val="333333"/>
                </a:solidFill>
                <a:highlight>
                  <a:srgbClr val="FFF0F0"/>
                </a:highlight>
              </a:rPr>
              <a:t>"&lt;br&gt;"</a:t>
            </a:r>
            <a:r>
              <a:rPr lang="es-419">
                <a:solidFill>
                  <a:srgbClr val="333333"/>
                </a:solidFill>
              </a:rPr>
              <a:t>;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33333"/>
                </a:solidFill>
              </a:rPr>
              <a:t>}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-419">
                <a:solidFill>
                  <a:srgbClr val="666666"/>
                </a:solidFill>
              </a:rPr>
            </a:br>
            <a:r>
              <a:rPr lang="es-419">
                <a:solidFill>
                  <a:srgbClr val="4A86E8"/>
                </a:solidFill>
              </a:rPr>
              <a:t>Resultado:</a:t>
            </a:r>
            <a:br>
              <a:rPr lang="es-419">
                <a:solidFill>
                  <a:srgbClr val="666666"/>
                </a:solidFill>
              </a:rPr>
            </a:br>
            <a:r>
              <a:rPr lang="es-419">
                <a:solidFill>
                  <a:srgbClr val="666666"/>
                </a:solidFill>
              </a:rPr>
              <a:t>El numero es 0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666666"/>
                </a:solidFill>
              </a:rPr>
              <a:t>El numero es 1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666666"/>
                </a:solidFill>
              </a:rPr>
              <a:t>El numero es 2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81" name="Google Shape;181;p26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🔁</a:t>
            </a:r>
            <a:r>
              <a:rPr lang="es-419"/>
              <a:t>Bucle: For</a:t>
            </a:r>
            <a:endParaRPr/>
          </a:p>
        </p:txBody>
      </p:sp>
      <p:sp>
        <p:nvSpPr>
          <p:cNvPr id="182" name="Google Shape;182;p26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-419">
                <a:latin typeface="Roboto"/>
                <a:ea typeface="Roboto"/>
                <a:cs typeface="Roboto"/>
                <a:sym typeface="Roboto"/>
              </a:rPr>
            </a:br>
            <a:r>
              <a:rPr lang="es-419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50"/>
              <a:t>Recorre las propiedades de un objeto.</a:t>
            </a:r>
            <a:endParaRPr sz="2250"/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250">
                <a:solidFill>
                  <a:srgbClr val="008800"/>
                </a:solidFill>
              </a:rPr>
              <a:t>for</a:t>
            </a:r>
            <a:r>
              <a:rPr lang="es-419" sz="2250">
                <a:solidFill>
                  <a:srgbClr val="333333"/>
                </a:solidFill>
              </a:rPr>
              <a:t> (key </a:t>
            </a:r>
            <a:r>
              <a:rPr b="1" lang="es-419" sz="2250">
                <a:solidFill>
                  <a:srgbClr val="008800"/>
                </a:solidFill>
              </a:rPr>
              <a:t>in</a:t>
            </a:r>
            <a:r>
              <a:rPr lang="es-419" sz="2250">
                <a:solidFill>
                  <a:srgbClr val="333333"/>
                </a:solidFill>
              </a:rPr>
              <a:t> object) {</a:t>
            </a:r>
            <a:endParaRPr sz="225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50">
                <a:solidFill>
                  <a:srgbClr val="333333"/>
                </a:solidFill>
              </a:rPr>
              <a:t>  </a:t>
            </a:r>
            <a:r>
              <a:rPr lang="es-419" sz="2250">
                <a:solidFill>
                  <a:srgbClr val="888888"/>
                </a:solidFill>
              </a:rPr>
              <a:t>// code block to be executed</a:t>
            </a:r>
            <a:endParaRPr sz="225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50">
                <a:solidFill>
                  <a:srgbClr val="333333"/>
                </a:solidFill>
              </a:rPr>
              <a:t>}</a:t>
            </a:r>
            <a:endParaRPr sz="225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50">
                <a:solidFill>
                  <a:schemeClr val="dk1"/>
                </a:solidFill>
              </a:rPr>
              <a:t>Ejemplo: </a:t>
            </a:r>
            <a:br>
              <a:rPr lang="es-419" sz="2250">
                <a:solidFill>
                  <a:schemeClr val="dk1"/>
                </a:solidFill>
              </a:rPr>
            </a:br>
            <a:r>
              <a:rPr b="1" lang="es-419" sz="2250">
                <a:solidFill>
                  <a:srgbClr val="008800"/>
                </a:solidFill>
              </a:rPr>
              <a:t>const</a:t>
            </a:r>
            <a:r>
              <a:rPr lang="es-419" sz="2250">
                <a:solidFill>
                  <a:srgbClr val="333333"/>
                </a:solidFill>
              </a:rPr>
              <a:t> persona = {nombre:</a:t>
            </a:r>
            <a:r>
              <a:rPr lang="es-419" sz="2250">
                <a:solidFill>
                  <a:srgbClr val="333333"/>
                </a:solidFill>
                <a:highlight>
                  <a:srgbClr val="FFF0F0"/>
                </a:highlight>
              </a:rPr>
              <a:t>"John"</a:t>
            </a:r>
            <a:r>
              <a:rPr lang="es-419" sz="2250">
                <a:solidFill>
                  <a:srgbClr val="333333"/>
                </a:solidFill>
              </a:rPr>
              <a:t>, apellido:</a:t>
            </a:r>
            <a:r>
              <a:rPr lang="es-419" sz="2250">
                <a:solidFill>
                  <a:srgbClr val="333333"/>
                </a:solidFill>
                <a:highlight>
                  <a:srgbClr val="FFF0F0"/>
                </a:highlight>
              </a:rPr>
              <a:t>"Lopez"</a:t>
            </a:r>
            <a:r>
              <a:rPr lang="es-419" sz="2250">
                <a:solidFill>
                  <a:srgbClr val="333333"/>
                </a:solidFill>
              </a:rPr>
              <a:t>, edad:</a:t>
            </a:r>
            <a:r>
              <a:rPr b="1" lang="es-419" sz="2250">
                <a:solidFill>
                  <a:srgbClr val="0000DD"/>
                </a:solidFill>
              </a:rPr>
              <a:t>25</a:t>
            </a:r>
            <a:r>
              <a:rPr lang="es-419" sz="2250">
                <a:solidFill>
                  <a:srgbClr val="333333"/>
                </a:solidFill>
              </a:rPr>
              <a:t>};</a:t>
            </a:r>
            <a:endParaRPr sz="225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250">
                <a:solidFill>
                  <a:srgbClr val="008800"/>
                </a:solidFill>
              </a:rPr>
              <a:t>let</a:t>
            </a:r>
            <a:r>
              <a:rPr lang="es-419" sz="2250">
                <a:solidFill>
                  <a:srgbClr val="333333"/>
                </a:solidFill>
              </a:rPr>
              <a:t> text = </a:t>
            </a:r>
            <a:r>
              <a:rPr lang="es-419" sz="2250">
                <a:solidFill>
                  <a:srgbClr val="333333"/>
                </a:solidFill>
                <a:highlight>
                  <a:srgbClr val="FFF0F0"/>
                </a:highlight>
              </a:rPr>
              <a:t>""</a:t>
            </a:r>
            <a:r>
              <a:rPr lang="es-419" sz="2250">
                <a:solidFill>
                  <a:srgbClr val="333333"/>
                </a:solidFill>
              </a:rPr>
              <a:t>;</a:t>
            </a:r>
            <a:endParaRPr sz="225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250">
                <a:solidFill>
                  <a:srgbClr val="008800"/>
                </a:solidFill>
              </a:rPr>
              <a:t>for</a:t>
            </a:r>
            <a:r>
              <a:rPr lang="es-419" sz="2250">
                <a:solidFill>
                  <a:srgbClr val="333333"/>
                </a:solidFill>
              </a:rPr>
              <a:t> (</a:t>
            </a:r>
            <a:r>
              <a:rPr b="1" lang="es-419" sz="2250">
                <a:solidFill>
                  <a:srgbClr val="008800"/>
                </a:solidFill>
              </a:rPr>
              <a:t>let</a:t>
            </a:r>
            <a:r>
              <a:rPr lang="es-419" sz="2250">
                <a:solidFill>
                  <a:srgbClr val="333333"/>
                </a:solidFill>
              </a:rPr>
              <a:t> x </a:t>
            </a:r>
            <a:r>
              <a:rPr b="1" lang="es-419" sz="2250">
                <a:solidFill>
                  <a:srgbClr val="008800"/>
                </a:solidFill>
              </a:rPr>
              <a:t>in</a:t>
            </a:r>
            <a:r>
              <a:rPr lang="es-419" sz="2250">
                <a:solidFill>
                  <a:srgbClr val="333333"/>
                </a:solidFill>
              </a:rPr>
              <a:t> persona) {</a:t>
            </a:r>
            <a:endParaRPr sz="225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50">
                <a:solidFill>
                  <a:srgbClr val="333333"/>
                </a:solidFill>
              </a:rPr>
              <a:t>  text += persona[x];</a:t>
            </a:r>
            <a:endParaRPr sz="225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50">
                <a:solidFill>
                  <a:srgbClr val="333333"/>
                </a:solidFill>
              </a:rPr>
              <a:t>}</a:t>
            </a:r>
            <a:endParaRPr sz="225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50">
              <a:solidFill>
                <a:srgbClr val="008800"/>
              </a:solidFill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50">
              <a:solidFill>
                <a:srgbClr val="0088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250"/>
          </a:p>
        </p:txBody>
      </p:sp>
      <p:sp>
        <p:nvSpPr>
          <p:cNvPr id="188" name="Google Shape;188;p27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🔁</a:t>
            </a:r>
            <a:r>
              <a:rPr lang="es-419"/>
              <a:t>Bucle: For in</a:t>
            </a:r>
            <a:endParaRPr/>
          </a:p>
        </p:txBody>
      </p:sp>
      <p:sp>
        <p:nvSpPr>
          <p:cNvPr id="189" name="Google Shape;189;p27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-419">
                <a:latin typeface="Roboto"/>
                <a:ea typeface="Roboto"/>
                <a:cs typeface="Roboto"/>
                <a:sym typeface="Roboto"/>
              </a:rPr>
            </a:br>
            <a:r>
              <a:rPr lang="es-419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Actividad: Implementar, comprender y personalizar el código en Visual Studio Code y compartir. (5 minutos)</a:t>
            </a:r>
            <a:endParaRPr/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SzPts val="2400"/>
              <a:buAutoNum type="arabicPeriod"/>
            </a:pPr>
            <a:r>
              <a:rPr lang="es-419"/>
              <a:t>Abrir Visual Studio Code.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419"/>
              <a:t>Crear 1 archivo: switch.html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-419"/>
              <a:t>Realizar cambios y mejoras! </a:t>
            </a:r>
            <a:r>
              <a:rPr lang="es-419">
                <a:solidFill>
                  <a:srgbClr val="4A86E8"/>
                </a:solidFill>
              </a:rPr>
              <a:t>Agregar números y días</a:t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/>
              <a:t>Compartir el código!</a:t>
            </a:r>
            <a:br>
              <a:rPr lang="es-419"/>
            </a:br>
            <a:r>
              <a:rPr lang="es-419" u="sng">
                <a:solidFill>
                  <a:schemeClr val="hlink"/>
                </a:solidFill>
                <a:hlinkClick r:id="rId3"/>
              </a:rPr>
              <a:t>https://onecompiler.com/html/44gnaeffc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8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🎯</a:t>
            </a:r>
            <a:r>
              <a:rPr lang="es-419">
                <a:solidFill>
                  <a:srgbClr val="FF9900"/>
                </a:solidFill>
              </a:rPr>
              <a:t>Actividad 4</a:t>
            </a:r>
            <a:r>
              <a:rPr lang="es-419">
                <a:solidFill>
                  <a:schemeClr val="lt1"/>
                </a:solidFill>
              </a:rPr>
              <a:t>: Switch / For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50"/>
              <a:t>Recorre un bloque de código siempre que una condición específica sea verdadera.</a:t>
            </a:r>
            <a:br>
              <a:rPr lang="es-419" sz="2250"/>
            </a:br>
            <a:r>
              <a:rPr b="1" lang="es-419" sz="2250">
                <a:solidFill>
                  <a:srgbClr val="008800"/>
                </a:solidFill>
              </a:rPr>
              <a:t>while</a:t>
            </a:r>
            <a:r>
              <a:rPr lang="es-419" sz="2250">
                <a:solidFill>
                  <a:srgbClr val="333333"/>
                </a:solidFill>
              </a:rPr>
              <a:t> (condition) {</a:t>
            </a:r>
            <a:endParaRPr sz="225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50">
                <a:solidFill>
                  <a:srgbClr val="333333"/>
                </a:solidFill>
              </a:rPr>
              <a:t>  </a:t>
            </a:r>
            <a:r>
              <a:rPr lang="es-419" sz="2250">
                <a:solidFill>
                  <a:srgbClr val="888888"/>
                </a:solidFill>
              </a:rPr>
              <a:t>// code block to be executed</a:t>
            </a:r>
            <a:endParaRPr sz="225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50">
                <a:solidFill>
                  <a:srgbClr val="333333"/>
                </a:solidFill>
              </a:rPr>
              <a:t>}</a:t>
            </a:r>
            <a:endParaRPr sz="225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50">
                <a:solidFill>
                  <a:schemeClr val="dk1"/>
                </a:solidFill>
              </a:rPr>
              <a:t>Ejemplo:</a:t>
            </a:r>
            <a:endParaRPr sz="2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250">
                <a:solidFill>
                  <a:srgbClr val="008800"/>
                </a:solidFill>
              </a:rPr>
              <a:t>while</a:t>
            </a:r>
            <a:r>
              <a:rPr lang="es-419" sz="2250">
                <a:solidFill>
                  <a:srgbClr val="333333"/>
                </a:solidFill>
              </a:rPr>
              <a:t> (i &lt; </a:t>
            </a:r>
            <a:r>
              <a:rPr b="1" lang="es-419" sz="2250">
                <a:solidFill>
                  <a:srgbClr val="0000DD"/>
                </a:solidFill>
              </a:rPr>
              <a:t>10</a:t>
            </a:r>
            <a:r>
              <a:rPr lang="es-419" sz="2250">
                <a:solidFill>
                  <a:srgbClr val="333333"/>
                </a:solidFill>
              </a:rPr>
              <a:t>) {</a:t>
            </a:r>
            <a:endParaRPr sz="225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50">
                <a:solidFill>
                  <a:srgbClr val="333333"/>
                </a:solidFill>
              </a:rPr>
              <a:t>  text += </a:t>
            </a:r>
            <a:r>
              <a:rPr lang="es-419" sz="2250">
                <a:solidFill>
                  <a:srgbClr val="333333"/>
                </a:solidFill>
                <a:highlight>
                  <a:srgbClr val="FFF0F0"/>
                </a:highlight>
              </a:rPr>
              <a:t>"The number is "</a:t>
            </a:r>
            <a:r>
              <a:rPr lang="es-419" sz="2250">
                <a:solidFill>
                  <a:srgbClr val="333333"/>
                </a:solidFill>
              </a:rPr>
              <a:t> + i;</a:t>
            </a:r>
            <a:endParaRPr sz="225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50">
                <a:solidFill>
                  <a:srgbClr val="333333"/>
                </a:solidFill>
              </a:rPr>
              <a:t>  i++;</a:t>
            </a:r>
            <a:endParaRPr sz="225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50">
                <a:solidFill>
                  <a:srgbClr val="333333"/>
                </a:solidFill>
              </a:rPr>
              <a:t>}</a:t>
            </a:r>
            <a:endParaRPr sz="225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250"/>
          </a:p>
        </p:txBody>
      </p:sp>
      <p:sp>
        <p:nvSpPr>
          <p:cNvPr id="201" name="Google Shape;201;p29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🔁</a:t>
            </a:r>
            <a:r>
              <a:rPr lang="es-419"/>
              <a:t>Bucle: While</a:t>
            </a:r>
            <a:endParaRPr/>
          </a:p>
        </p:txBody>
      </p:sp>
      <p:sp>
        <p:nvSpPr>
          <p:cNvPr id="202" name="Google Shape;202;p29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-419">
                <a:latin typeface="Roboto"/>
                <a:ea typeface="Roboto"/>
                <a:cs typeface="Roboto"/>
                <a:sym typeface="Roboto"/>
              </a:rPr>
            </a:br>
            <a:r>
              <a:rPr lang="es-419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Actividad: Implementar, comprender y personalizar el código en Visual Studio Code y compartir. (5 minutos)</a:t>
            </a:r>
            <a:endParaRPr/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SzPts val="2400"/>
              <a:buAutoNum type="arabicPeriod"/>
            </a:pPr>
            <a:r>
              <a:rPr lang="es-419"/>
              <a:t>Abrir Visual Studio Code.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419"/>
              <a:t>Crear 1 archivo: while.html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-419"/>
              <a:t>Realizar cambios y mejoras! </a:t>
            </a:r>
            <a:r>
              <a:rPr lang="es-419">
                <a:solidFill>
                  <a:srgbClr val="4A86E8"/>
                </a:solidFill>
              </a:rPr>
              <a:t>Cambiar los números</a:t>
            </a:r>
            <a:endParaRPr>
              <a:solidFill>
                <a:srgbClr val="4A86E8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-419"/>
              <a:t>Compartir el código!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>
                <a:solidFill>
                  <a:schemeClr val="hlink"/>
                </a:solidFill>
                <a:hlinkClick r:id="rId3"/>
              </a:rPr>
              <a:t>https://onecompiler.com/html/44gnatw9b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0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9900"/>
                </a:solidFill>
              </a:rPr>
              <a:t>Actividad 5</a:t>
            </a:r>
            <a:r>
              <a:rPr lang="es-419">
                <a:solidFill>
                  <a:schemeClr val="lt1"/>
                </a:solidFill>
              </a:rPr>
              <a:t>: While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código de programación puede contener errores.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/>
              <a:t>Muchos de estos errores son difíciles de diagnosticar.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/>
              <a:t>Buscar (y corregir) errores en el código de programación se denomina depuración de código.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1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🛠️</a:t>
            </a:r>
            <a:r>
              <a:rPr lang="es-419"/>
              <a:t>Debug del Código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Permite mostrar mensajes en la consola del navegador.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/>
              <a:t>Para acceder hay que presionar F12 y elegir la Consola.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33333"/>
                </a:solidFill>
              </a:rPr>
              <a:t>a = </a:t>
            </a:r>
            <a:r>
              <a:rPr b="1" lang="es-419">
                <a:solidFill>
                  <a:srgbClr val="0000DD"/>
                </a:solidFill>
              </a:rPr>
              <a:t>5</a:t>
            </a:r>
            <a:r>
              <a:rPr lang="es-419">
                <a:solidFill>
                  <a:srgbClr val="333333"/>
                </a:solidFill>
              </a:rPr>
              <a:t>;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33333"/>
                </a:solidFill>
              </a:rPr>
              <a:t>b = </a:t>
            </a:r>
            <a:r>
              <a:rPr b="1" lang="es-419">
                <a:solidFill>
                  <a:srgbClr val="0000DD"/>
                </a:solidFill>
              </a:rPr>
              <a:t>6</a:t>
            </a:r>
            <a:r>
              <a:rPr lang="es-419">
                <a:solidFill>
                  <a:srgbClr val="333333"/>
                </a:solidFill>
              </a:rPr>
              <a:t>;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33333"/>
                </a:solidFill>
              </a:rPr>
              <a:t>c = a + b;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33333"/>
                </a:solidFill>
              </a:rPr>
              <a:t>console.log(c);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2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🛠️</a:t>
            </a:r>
            <a:r>
              <a:rPr lang="es-419"/>
              <a:t>El Método Console.log</a:t>
            </a:r>
            <a:endParaRPr/>
          </a:p>
        </p:txBody>
      </p:sp>
      <p:sp>
        <p:nvSpPr>
          <p:cNvPr id="221" name="Google Shape;221;p32"/>
          <p:cNvSpPr txBox="1"/>
          <p:nvPr/>
        </p:nvSpPr>
        <p:spPr>
          <a:xfrm>
            <a:off x="6664100" y="210775"/>
            <a:ext cx="254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Probar el código:</a:t>
            </a:r>
            <a:br>
              <a:rPr lang="es-419">
                <a:latin typeface="Roboto"/>
                <a:ea typeface="Roboto"/>
                <a:cs typeface="Roboto"/>
                <a:sym typeface="Roboto"/>
              </a:rPr>
            </a:br>
            <a:r>
              <a:rPr lang="es-419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https://w3schools.com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2" name="Google Shape;22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7813" y="2743200"/>
            <a:ext cx="3686175" cy="240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Actividad: Implementar, comprender y personalizar el código en Visual Studio Code y compartir. (5 minutos)</a:t>
            </a:r>
            <a:endParaRPr/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SzPts val="2400"/>
              <a:buAutoNum type="arabicPeriod"/>
            </a:pPr>
            <a:r>
              <a:rPr lang="es-419"/>
              <a:t>Abrir Visual Studio Code.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419"/>
              <a:t>Crear 1 archivo: consola.html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-419"/>
              <a:t>Realizar cambios y mejoras!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/>
              <a:t>Compartir el código!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u="sng">
                <a:solidFill>
                  <a:schemeClr val="hlink"/>
                </a:solidFill>
                <a:hlinkClick r:id="rId3"/>
              </a:rPr>
              <a:t>https://onecompiler.com/html/44pe5ykhu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3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9900"/>
                </a:solidFill>
              </a:rPr>
              <a:t>Actividad 6</a:t>
            </a:r>
            <a:r>
              <a:rPr lang="es-419"/>
              <a:t>: Error en la Consola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/>
          <p:nvPr>
            <p:ph idx="1" type="body"/>
          </p:nvPr>
        </p:nvSpPr>
        <p:spPr>
          <a:xfrm>
            <a:off x="311700" y="1138175"/>
            <a:ext cx="8832300" cy="3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Permite capturar y manejar excepciones antes de que ocurran.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try</a:t>
            </a:r>
            <a:r>
              <a:rPr lang="es-41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endParaRPr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-419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//código con riesgo de generar error</a:t>
            </a:r>
            <a:endParaRPr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r>
              <a:rPr b="1" lang="es-419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catch</a:t>
            </a:r>
            <a:r>
              <a:rPr lang="es-41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(error) {</a:t>
            </a:r>
            <a:endParaRPr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-419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//aquí solucionamos el error</a:t>
            </a:r>
            <a:endParaRPr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4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¿Para qué sirve try-catch?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/>
              <a:t>Actividad: Implementar, comprender y personalizar el código en Visual Studio Code y compartir. (5 minutos)</a:t>
            </a:r>
            <a:endParaRPr sz="2200"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AutoNum type="arabicPeriod"/>
            </a:pPr>
            <a:r>
              <a:rPr lang="es-419" sz="2200"/>
              <a:t>Abrir Visual Studio Code.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419" sz="2200"/>
              <a:t>Crear 1 archivo: try.html</a:t>
            </a:r>
            <a:endParaRPr sz="22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s-419"/>
              <a:t>Realizar cambios y mejoras! </a:t>
            </a:r>
            <a:r>
              <a:rPr lang="es-419">
                <a:solidFill>
                  <a:srgbClr val="3C78D8"/>
                </a:solidFill>
              </a:rPr>
              <a:t>Cambiar colores</a:t>
            </a:r>
            <a:endParaRPr>
              <a:solidFill>
                <a:srgbClr val="3C78D8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/>
              <a:t>Compartir el código!</a:t>
            </a:r>
            <a:endParaRPr sz="2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u="sng">
                <a:solidFill>
                  <a:schemeClr val="hlink"/>
                </a:solidFill>
                <a:hlinkClick r:id="rId3"/>
              </a:rPr>
              <a:t>https://onecompiler.com/html/44pe6ys75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5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9900"/>
                </a:solidFill>
              </a:rPr>
              <a:t>Actividad 7</a:t>
            </a:r>
            <a:r>
              <a:rPr lang="es-419"/>
              <a:t>: Try / Catch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/>
          <p:nvPr>
            <p:ph type="title"/>
          </p:nvPr>
        </p:nvSpPr>
        <p:spPr>
          <a:xfrm>
            <a:off x="195425" y="192925"/>
            <a:ext cx="90174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9900"/>
                </a:solidFill>
              </a:rPr>
              <a:t>Actividad 8</a:t>
            </a:r>
            <a:r>
              <a:rPr lang="es-419">
                <a:solidFill>
                  <a:schemeClr val="lt1"/>
                </a:solidFill>
              </a:rPr>
              <a:t>: Conversor de Monedas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  <p:sp>
        <p:nvSpPr>
          <p:cNvPr id="246" name="Google Shape;246;p36"/>
          <p:cNvSpPr txBox="1"/>
          <p:nvPr>
            <p:ph idx="1" type="body"/>
          </p:nvPr>
        </p:nvSpPr>
        <p:spPr>
          <a:xfrm>
            <a:off x="89625" y="1138175"/>
            <a:ext cx="90543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Este proyecto utiliza la API gratuita de </a:t>
            </a:r>
            <a:r>
              <a:rPr lang="es-419" u="sng">
                <a:solidFill>
                  <a:schemeClr val="hlink"/>
                </a:solidFill>
                <a:hlinkClick r:id="rId3"/>
              </a:rPr>
              <a:t>ExchangeRate-API.com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/>
              <a:t>Necesitamos una clave de API para convertir las monedas. Podemos usar esta clave: f8b9ca5879111e54f4a3368c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/>
              <a:t>Puedes reemplazar la clave de API por tu propia clave obtenida en la página </a:t>
            </a:r>
            <a:r>
              <a:rPr lang="es-419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ExchangeRate-API.com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 txBox="1"/>
          <p:nvPr>
            <p:ph idx="1" type="body"/>
          </p:nvPr>
        </p:nvSpPr>
        <p:spPr>
          <a:xfrm>
            <a:off x="311700" y="1138181"/>
            <a:ext cx="85206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419"/>
              <a:t>Abrir Visual Studio Code.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419"/>
              <a:t>Crear 3 archivos: moneda.html, moneda.css, moneda.js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419"/>
              <a:t>Copiar y pegar el siguiente código en Visual Studio Code. </a:t>
            </a:r>
            <a:r>
              <a:rPr lang="es-419" u="sng">
                <a:solidFill>
                  <a:schemeClr val="hlink"/>
                </a:solidFill>
                <a:hlinkClick r:id="rId3"/>
              </a:rPr>
              <a:t>https://onecompiler.com/html/42stam6t4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419"/>
              <a:t>Realizar cambios y mejoras! </a:t>
            </a:r>
            <a:r>
              <a:rPr lang="es-419">
                <a:solidFill>
                  <a:schemeClr val="accent6"/>
                </a:solidFill>
              </a:rPr>
              <a:t>Agregar más monedas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/>
              <a:t>Compartir el código!</a:t>
            </a:r>
            <a:endParaRPr/>
          </a:p>
        </p:txBody>
      </p:sp>
      <p:sp>
        <p:nvSpPr>
          <p:cNvPr id="252" name="Google Shape;252;p37"/>
          <p:cNvSpPr txBox="1"/>
          <p:nvPr>
            <p:ph type="title"/>
          </p:nvPr>
        </p:nvSpPr>
        <p:spPr>
          <a:xfrm>
            <a:off x="372950" y="192919"/>
            <a:ext cx="86361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9900"/>
                </a:solidFill>
              </a:rPr>
              <a:t>Actividad 8</a:t>
            </a:r>
            <a:r>
              <a:rPr lang="es-419"/>
              <a:t>: Conversor de Monedas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